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4" r:id="rId2"/>
    <p:sldId id="256" r:id="rId3"/>
    <p:sldId id="257" r:id="rId4"/>
    <p:sldId id="263" r:id="rId5"/>
    <p:sldId id="265" r:id="rId6"/>
    <p:sldId id="259" r:id="rId7"/>
    <p:sldId id="262" r:id="rId8"/>
    <p:sldId id="260" r:id="rId9"/>
    <p:sldId id="261"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C39EF4-E118-4F1C-8737-E9ABF732305C}" type="datetimeFigureOut">
              <a:rPr kumimoji="1" lang="ja-JP" altLang="en-US" smtClean="0"/>
              <a:t>2026/6/8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D73967-B4E4-4BA4-97C8-32FB1BD2FEBB}" type="slidenum">
              <a:rPr kumimoji="1" lang="ja-JP" altLang="en-US" smtClean="0"/>
              <a:t>‹#›</a:t>
            </a:fld>
            <a:endParaRPr kumimoji="1" lang="ja-JP" altLang="en-US"/>
          </a:p>
        </p:txBody>
      </p:sp>
    </p:spTree>
    <p:extLst>
      <p:ext uri="{BB962C8B-B14F-4D97-AF65-F5344CB8AC3E}">
        <p14:creationId xmlns:p14="http://schemas.microsoft.com/office/powerpoint/2010/main" val="74097657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なぜ成長なのか</a:t>
            </a:r>
          </a:p>
        </p:txBody>
      </p:sp>
      <p:sp>
        <p:nvSpPr>
          <p:cNvPr id="4" name="スライド番号プレースホルダー 3"/>
          <p:cNvSpPr>
            <a:spLocks noGrp="1"/>
          </p:cNvSpPr>
          <p:nvPr>
            <p:ph type="sldNum" sz="quarter" idx="5"/>
          </p:nvPr>
        </p:nvSpPr>
        <p:spPr/>
        <p:txBody>
          <a:bodyPr/>
          <a:lstStyle/>
          <a:p>
            <a:fld id="{5FD73967-B4E4-4BA4-97C8-32FB1BD2FEBB}" type="slidenum">
              <a:rPr kumimoji="1" lang="ja-JP" altLang="en-US" smtClean="0"/>
              <a:t>3</a:t>
            </a:fld>
            <a:endParaRPr kumimoji="1" lang="ja-JP" altLang="en-US"/>
          </a:p>
        </p:txBody>
      </p:sp>
    </p:spTree>
    <p:extLst>
      <p:ext uri="{BB962C8B-B14F-4D97-AF65-F5344CB8AC3E}">
        <p14:creationId xmlns:p14="http://schemas.microsoft.com/office/powerpoint/2010/main" val="2534451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2B2C8E-4E3F-096A-9392-2BA2501C032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A34DB9D-47FE-5CE0-527F-CACF8141ED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693AEB2-D505-BE1F-1ECE-7552E459C47E}"/>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9C8CDECF-3987-6084-2035-A92BCB79F5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3970C49-E071-8613-167E-072112661E67}"/>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2844031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0BC079-B0D8-8B5D-7B44-0B62ABE8109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07C501D-26C4-BEC0-E380-3B7754216B4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E84A51F-7FD3-3015-A15A-6771F52CF6BA}"/>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BBAA94DB-E799-6732-6127-AA782B2727A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2E1BE4-295A-1315-DA4B-0E6675C51E93}"/>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270655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BB9EDE-6A06-010F-E6BF-A1D81C7C6B4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EB9A495-110B-93D9-D7D9-4134841414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FA9CE12-8D9F-3E64-6F12-C53368B84C46}"/>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3229F66C-FF73-A23E-CF8E-F4C5EF683CD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4FDA18-92A8-8C5D-BC85-1D2D4C6A62D7}"/>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2483272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ED73FF-9520-D380-3C65-3562B7ACD5D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99EE61A-C4EA-B9CC-4836-F513FB83AA1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7A1793A-53D4-1BCB-054A-57416A8CF11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8E0B257-D86F-64AE-236D-D24E5F9A2496}"/>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6" name="フッター プレースホルダー 5">
            <a:extLst>
              <a:ext uri="{FF2B5EF4-FFF2-40B4-BE49-F238E27FC236}">
                <a16:creationId xmlns:a16="http://schemas.microsoft.com/office/drawing/2014/main" id="{5AC5CD96-C520-1447-FEAD-741D6BD90EC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973427C-6D8B-3169-F59A-D5E21B98EA31}"/>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3940806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33D926-AFFA-863F-C7B3-B08C55114E7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C2B6A69-BA23-E514-9574-6B45549842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151BDBB-02EA-93E7-A40F-7E0DA2DA802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D72F32C-3461-7273-9232-FCA8332035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02E1599-9608-2E6A-8E2F-8CEF3104379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999F2E6-42B3-D2B9-4CF7-AC4149AE06A5}"/>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8" name="フッター プレースホルダー 7">
            <a:extLst>
              <a:ext uri="{FF2B5EF4-FFF2-40B4-BE49-F238E27FC236}">
                <a16:creationId xmlns:a16="http://schemas.microsoft.com/office/drawing/2014/main" id="{CFC8AD6E-7764-FA55-BDDF-9E434FFE9C3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99D5325-23C0-4D1E-0D1D-658A74A11BB5}"/>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4149212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67FD5A-B4EF-0E04-2D34-7AE3A928828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81372D5-4105-994A-58E7-80D5D63FE98C}"/>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4" name="フッター プレースホルダー 3">
            <a:extLst>
              <a:ext uri="{FF2B5EF4-FFF2-40B4-BE49-F238E27FC236}">
                <a16:creationId xmlns:a16="http://schemas.microsoft.com/office/drawing/2014/main" id="{62CC9D8B-EE64-4A14-531D-BC4184709A7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B0555C6-59B8-FD79-55FC-47B1D32ECD4F}"/>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82223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9A2FAF8-2787-F109-FF8A-873A999C7B41}"/>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3" name="フッター プレースホルダー 2">
            <a:extLst>
              <a:ext uri="{FF2B5EF4-FFF2-40B4-BE49-F238E27FC236}">
                <a16:creationId xmlns:a16="http://schemas.microsoft.com/office/drawing/2014/main" id="{B579796C-471A-3D4B-DD75-03CE691352A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689F478-FF43-3F82-7D58-DCF33041A1F0}"/>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467523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B886FD-8EE0-6CAD-6BA1-ABE27C1CB42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55B9471-F9E3-6BF0-0FBE-E51E55AE4B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1B90787-CC3A-A838-C278-E48B3DB66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96CBB9D-2D7B-0C23-6665-06042DE944D6}"/>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6" name="フッター プレースホルダー 5">
            <a:extLst>
              <a:ext uri="{FF2B5EF4-FFF2-40B4-BE49-F238E27FC236}">
                <a16:creationId xmlns:a16="http://schemas.microsoft.com/office/drawing/2014/main" id="{35A6BEB9-B322-B748-829A-24442CAFE6F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E2A7CDA-717B-CE49-FA88-2B2EA05E1980}"/>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3888858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F4E4EE-2018-B675-C8EC-17CFAB2E136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318CCFC-764A-3C43-84EB-AF28147247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116449D-AF79-AD81-BA37-CA94B51DD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46FB549-B5B8-DCED-D913-51457724EB2C}"/>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6" name="フッター プレースホルダー 5">
            <a:extLst>
              <a:ext uri="{FF2B5EF4-FFF2-40B4-BE49-F238E27FC236}">
                <a16:creationId xmlns:a16="http://schemas.microsoft.com/office/drawing/2014/main" id="{1074C565-AC89-15CD-5B5E-54FFB60C62A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4D91131-158B-CFAA-A10E-596719141411}"/>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25635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1FFA06-B059-35CC-7BC0-2A0366871FA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DD179B1-9091-6856-F1AF-A8463A39BB6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0F7FE82-05B1-2DFE-69A1-F0C6D03A07F1}"/>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21183919-D980-6403-3469-3FDBB60ADB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A2A577-9B57-195C-D74B-D59B03E1184C}"/>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3921596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A71B09D-00E9-79BB-B336-24D5D325F3B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E840D12-5D4D-491E-4AF2-84A2792D05D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A8340D1-93A1-9306-B072-C5AC0F20E046}"/>
              </a:ext>
            </a:extLst>
          </p:cNvPr>
          <p:cNvSpPr>
            <a:spLocks noGrp="1"/>
          </p:cNvSpPr>
          <p:nvPr>
            <p:ph type="dt" sz="half" idx="10"/>
          </p:nvPr>
        </p:nvSpPr>
        <p:spPr/>
        <p:txBody>
          <a:bodyPr/>
          <a:lstStyle/>
          <a:p>
            <a:fld id="{3110F15D-2E9B-47C9-86DF-58A2282AFBC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D9D8F517-9D82-077B-4A6F-3FC8071562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6558636-43D9-1E6F-60BE-150FF4F351BE}"/>
              </a:ext>
            </a:extLst>
          </p:cNvPr>
          <p:cNvSpPr>
            <a:spLocks noGrp="1"/>
          </p:cNvSpPr>
          <p:nvPr>
            <p:ph type="sldNum" sz="quarter" idx="12"/>
          </p:nvPr>
        </p:nvSpPr>
        <p:spPr/>
        <p:txBody>
          <a:body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2485750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1201268-9822-99F2-3B2D-80C329C669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E365A57-0178-DB30-4266-A8BCA903F0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FF5E9C9-FC88-5243-6A55-2F59DF3D4B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10F15D-2E9B-47C9-86DF-58A2282AFBC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6D817CFF-1612-ED69-F32C-4079328199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4B973D9-2467-619E-AB2E-A5BF1C9735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941490-ED84-4762-B4A1-F35ACD87859F}" type="slidenum">
              <a:rPr kumimoji="1" lang="ja-JP" altLang="en-US" smtClean="0"/>
              <a:t>‹#›</a:t>
            </a:fld>
            <a:endParaRPr kumimoji="1" lang="ja-JP" altLang="en-US"/>
          </a:p>
        </p:txBody>
      </p:sp>
    </p:spTree>
    <p:extLst>
      <p:ext uri="{BB962C8B-B14F-4D97-AF65-F5344CB8AC3E}">
        <p14:creationId xmlns:p14="http://schemas.microsoft.com/office/powerpoint/2010/main" val="36204123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字幕 2">
            <a:extLst>
              <a:ext uri="{FF2B5EF4-FFF2-40B4-BE49-F238E27FC236}">
                <a16:creationId xmlns:a16="http://schemas.microsoft.com/office/drawing/2014/main" id="{5FA6C663-F92E-EF1E-81E5-93319E09ECC2}"/>
              </a:ext>
            </a:extLst>
          </p:cNvPr>
          <p:cNvSpPr txBox="1">
            <a:spLocks/>
          </p:cNvSpPr>
          <p:nvPr/>
        </p:nvSpPr>
        <p:spPr>
          <a:xfrm>
            <a:off x="3611419" y="2752438"/>
            <a:ext cx="5606472" cy="337127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dirty="0"/>
              <a:t>チームメンバー</a:t>
            </a:r>
            <a:endParaRPr lang="en-US" altLang="ja-JP" dirty="0"/>
          </a:p>
          <a:p>
            <a:pPr marL="0" indent="0">
              <a:buNone/>
            </a:pPr>
            <a:r>
              <a:rPr lang="ja-JP" altLang="en-US" dirty="0"/>
              <a:t>・廣松健吾　　（リーダー）</a:t>
            </a:r>
            <a:endParaRPr lang="en-US" altLang="ja-JP" dirty="0"/>
          </a:p>
          <a:p>
            <a:pPr marL="0" indent="0">
              <a:buNone/>
            </a:pPr>
            <a:r>
              <a:rPr lang="ja-JP" altLang="en-US" dirty="0"/>
              <a:t>・平木諒　　　（イラスト担当）</a:t>
            </a:r>
            <a:endParaRPr lang="en-US" altLang="ja-JP" dirty="0"/>
          </a:p>
          <a:p>
            <a:pPr marL="0" indent="0">
              <a:buNone/>
            </a:pPr>
            <a:r>
              <a:rPr lang="ja-JP" altLang="en-US" dirty="0"/>
              <a:t>・</a:t>
            </a:r>
            <a:r>
              <a:rPr lang="ja-JP" altLang="en-US"/>
              <a:t>廣田凌　　　（主人公）</a:t>
            </a:r>
            <a:endParaRPr lang="en-US" altLang="ja-JP" dirty="0"/>
          </a:p>
          <a:p>
            <a:pPr marL="0" indent="0">
              <a:buNone/>
            </a:pPr>
            <a:r>
              <a:rPr lang="ja-JP" altLang="en-US" dirty="0"/>
              <a:t>・久保田七翔　（ボス）</a:t>
            </a:r>
          </a:p>
        </p:txBody>
      </p:sp>
      <p:sp>
        <p:nvSpPr>
          <p:cNvPr id="5" name="正方形/長方形 4">
            <a:extLst>
              <a:ext uri="{FF2B5EF4-FFF2-40B4-BE49-F238E27FC236}">
                <a16:creationId xmlns:a16="http://schemas.microsoft.com/office/drawing/2014/main" id="{E09CA9FB-32DC-6EBB-D7C3-B2F273EAFD62}"/>
              </a:ext>
            </a:extLst>
          </p:cNvPr>
          <p:cNvSpPr/>
          <p:nvPr/>
        </p:nvSpPr>
        <p:spPr>
          <a:xfrm>
            <a:off x="309418" y="118554"/>
            <a:ext cx="11573163" cy="230137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ja-JP" altLang="en-US" sz="8000" dirty="0"/>
              <a:t>七三飛</a:t>
            </a:r>
            <a:endParaRPr lang="en-US" altLang="ja-JP" sz="8000" dirty="0"/>
          </a:p>
        </p:txBody>
      </p:sp>
    </p:spTree>
    <p:extLst>
      <p:ext uri="{BB962C8B-B14F-4D97-AF65-F5344CB8AC3E}">
        <p14:creationId xmlns:p14="http://schemas.microsoft.com/office/powerpoint/2010/main" val="3182292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7746ABC0-8FB4-0F4B-AE86-7C5B63780666}"/>
              </a:ext>
            </a:extLst>
          </p:cNvPr>
          <p:cNvSpPr/>
          <p:nvPr/>
        </p:nvSpPr>
        <p:spPr>
          <a:xfrm>
            <a:off x="309418" y="118554"/>
            <a:ext cx="11573163" cy="230137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ltLang="ja-JP" sz="8000" dirty="0" err="1"/>
              <a:t>Re:Human</a:t>
            </a:r>
            <a:endParaRPr lang="en-US" altLang="ja-JP" sz="8000" dirty="0"/>
          </a:p>
          <a:p>
            <a:pPr algn="ctr"/>
            <a:r>
              <a:rPr lang="en-US" altLang="ja-JP" sz="8000" dirty="0"/>
              <a:t>~</a:t>
            </a:r>
            <a:r>
              <a:rPr lang="ja-JP" altLang="en-US" sz="8000" dirty="0"/>
              <a:t>私の人生</a:t>
            </a:r>
            <a:r>
              <a:rPr lang="en-US" altLang="ja-JP" sz="8000" dirty="0"/>
              <a:t>~</a:t>
            </a:r>
          </a:p>
        </p:txBody>
      </p:sp>
      <p:pic>
        <p:nvPicPr>
          <p:cNvPr id="1026" name="Picture 2" descr="『Hollow Knight』 Nintendo Switch版をリリース 同時にSteam版の日本語対応を発表 - ファミ通.com">
            <a:extLst>
              <a:ext uri="{FF2B5EF4-FFF2-40B4-BE49-F238E27FC236}">
                <a16:creationId xmlns:a16="http://schemas.microsoft.com/office/drawing/2014/main" id="{4039FD0A-F8E5-5787-5502-F9E9F68F23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745" y="3050977"/>
            <a:ext cx="5462636" cy="3072732"/>
          </a:xfrm>
          <a:prstGeom prst="rect">
            <a:avLst/>
          </a:prstGeom>
          <a:noFill/>
          <a:extLst>
            <a:ext uri="{909E8E84-426E-40DD-AFC4-6F175D3DCCD1}">
              <a14:hiddenFill xmlns:a14="http://schemas.microsoft.com/office/drawing/2010/main">
                <a:solidFill>
                  <a:srgbClr val="FFFFFF"/>
                </a:solidFill>
              </a14:hiddenFill>
            </a:ext>
          </a:extLst>
        </p:spPr>
      </p:pic>
      <p:sp>
        <p:nvSpPr>
          <p:cNvPr id="7" name="正方形/長方形 6">
            <a:extLst>
              <a:ext uri="{FF2B5EF4-FFF2-40B4-BE49-F238E27FC236}">
                <a16:creationId xmlns:a16="http://schemas.microsoft.com/office/drawing/2014/main" id="{5AFA0018-712E-19EB-71BF-A4B334538342}"/>
              </a:ext>
            </a:extLst>
          </p:cNvPr>
          <p:cNvSpPr/>
          <p:nvPr/>
        </p:nvSpPr>
        <p:spPr>
          <a:xfrm flipV="1">
            <a:off x="3334759" y="4239491"/>
            <a:ext cx="3121459" cy="6465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FCB4FB3B-8CAF-D4B4-E86F-511A0B85440C}"/>
              </a:ext>
            </a:extLst>
          </p:cNvPr>
          <p:cNvSpPr txBox="1"/>
          <p:nvPr/>
        </p:nvSpPr>
        <p:spPr>
          <a:xfrm>
            <a:off x="1357745" y="2681645"/>
            <a:ext cx="1339272" cy="369332"/>
          </a:xfrm>
          <a:prstGeom prst="rect">
            <a:avLst/>
          </a:prstGeom>
          <a:noFill/>
        </p:spPr>
        <p:txBody>
          <a:bodyPr wrap="square" rtlCol="0">
            <a:spAutoFit/>
          </a:bodyPr>
          <a:lstStyle/>
          <a:p>
            <a:r>
              <a:rPr kumimoji="1" lang="en-US" altLang="ja-JP" dirty="0"/>
              <a:t>【</a:t>
            </a:r>
            <a:r>
              <a:rPr kumimoji="1" lang="ja-JP" altLang="en-US" dirty="0"/>
              <a:t>↓参考</a:t>
            </a:r>
            <a:r>
              <a:rPr kumimoji="1" lang="en-US" altLang="ja-JP" dirty="0"/>
              <a:t>】</a:t>
            </a:r>
            <a:endParaRPr kumimoji="1" lang="ja-JP" altLang="en-US" dirty="0"/>
          </a:p>
        </p:txBody>
      </p:sp>
      <p:sp>
        <p:nvSpPr>
          <p:cNvPr id="13" name="テキスト ボックス 12">
            <a:extLst>
              <a:ext uri="{FF2B5EF4-FFF2-40B4-BE49-F238E27FC236}">
                <a16:creationId xmlns:a16="http://schemas.microsoft.com/office/drawing/2014/main" id="{7EC1695B-3D34-B1CC-3451-A50D6F578D76}"/>
              </a:ext>
            </a:extLst>
          </p:cNvPr>
          <p:cNvSpPr txBox="1"/>
          <p:nvPr/>
        </p:nvSpPr>
        <p:spPr>
          <a:xfrm>
            <a:off x="9217891" y="2439996"/>
            <a:ext cx="2974109" cy="646331"/>
          </a:xfrm>
          <a:prstGeom prst="rect">
            <a:avLst/>
          </a:prstGeom>
          <a:noFill/>
        </p:spPr>
        <p:txBody>
          <a:bodyPr wrap="square" rtlCol="0">
            <a:spAutoFit/>
          </a:bodyPr>
          <a:lstStyle/>
          <a:p>
            <a:r>
              <a:rPr lang="ja-JP" altLang="en-US" dirty="0"/>
              <a:t>ジャンル：ソウルライク</a:t>
            </a:r>
            <a:endParaRPr lang="en-US" altLang="ja-JP" dirty="0"/>
          </a:p>
          <a:p>
            <a:r>
              <a:rPr kumimoji="1" lang="en-US" altLang="ja-JP" dirty="0"/>
              <a:t>	</a:t>
            </a:r>
            <a:r>
              <a:rPr kumimoji="1" lang="ja-JP" altLang="en-US" dirty="0"/>
              <a:t>　２</a:t>
            </a:r>
            <a:r>
              <a:rPr kumimoji="1" lang="en-US" altLang="ja-JP" dirty="0"/>
              <a:t>D</a:t>
            </a:r>
            <a:r>
              <a:rPr kumimoji="1" lang="ja-JP" altLang="en-US" dirty="0"/>
              <a:t>アクション</a:t>
            </a:r>
            <a:r>
              <a:rPr kumimoji="1" lang="en-US" altLang="ja-JP" dirty="0"/>
              <a:t>	</a:t>
            </a:r>
            <a:endParaRPr kumimoji="1" lang="ja-JP" altLang="en-US" dirty="0"/>
          </a:p>
        </p:txBody>
      </p:sp>
    </p:spTree>
    <p:extLst>
      <p:ext uri="{BB962C8B-B14F-4D97-AF65-F5344CB8AC3E}">
        <p14:creationId xmlns:p14="http://schemas.microsoft.com/office/powerpoint/2010/main" val="379939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0F320E5-6735-2533-04B1-DD44790C90E6}"/>
              </a:ext>
            </a:extLst>
          </p:cNvPr>
          <p:cNvSpPr>
            <a:spLocks noGrp="1"/>
          </p:cNvSpPr>
          <p:nvPr>
            <p:ph idx="1"/>
          </p:nvPr>
        </p:nvSpPr>
        <p:spPr>
          <a:xfrm>
            <a:off x="163945" y="1579273"/>
            <a:ext cx="5461000" cy="2413866"/>
          </a:xfrm>
        </p:spPr>
        <p:txBody>
          <a:bodyPr/>
          <a:lstStyle/>
          <a:p>
            <a:r>
              <a:rPr kumimoji="1" lang="ja-JP" altLang="en-US" dirty="0"/>
              <a:t>成長と復讐</a:t>
            </a:r>
            <a:endParaRPr kumimoji="1" lang="en-US" altLang="ja-JP" dirty="0"/>
          </a:p>
          <a:p>
            <a:pPr marL="0" indent="0">
              <a:buNone/>
            </a:pPr>
            <a:r>
              <a:rPr lang="ja-JP" altLang="en-US" dirty="0"/>
              <a:t>　↓</a:t>
            </a:r>
            <a:endParaRPr lang="en-US" altLang="ja-JP" dirty="0"/>
          </a:p>
          <a:p>
            <a:pPr marL="0" indent="0">
              <a:buNone/>
            </a:pPr>
            <a:endParaRPr kumimoji="1" lang="ja-JP" altLang="en-US" dirty="0"/>
          </a:p>
        </p:txBody>
      </p:sp>
      <p:sp>
        <p:nvSpPr>
          <p:cNvPr id="6" name="正方形/長方形 5">
            <a:extLst>
              <a:ext uri="{FF2B5EF4-FFF2-40B4-BE49-F238E27FC236}">
                <a16:creationId xmlns:a16="http://schemas.microsoft.com/office/drawing/2014/main" id="{5ED95482-6A8E-BF0F-2789-952A81E56125}"/>
              </a:ext>
            </a:extLst>
          </p:cNvPr>
          <p:cNvSpPr/>
          <p:nvPr/>
        </p:nvSpPr>
        <p:spPr>
          <a:xfrm>
            <a:off x="69273" y="205364"/>
            <a:ext cx="12053454" cy="12284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kumimoji="1" lang="ja-JP" altLang="en-US" sz="4000" dirty="0"/>
              <a:t>　ゲームコンセプト</a:t>
            </a:r>
          </a:p>
        </p:txBody>
      </p:sp>
      <p:sp>
        <p:nvSpPr>
          <p:cNvPr id="7" name="テキスト ボックス 6">
            <a:extLst>
              <a:ext uri="{FF2B5EF4-FFF2-40B4-BE49-F238E27FC236}">
                <a16:creationId xmlns:a16="http://schemas.microsoft.com/office/drawing/2014/main" id="{2BCF95D9-E5FE-411A-04F7-CEB50E9FA520}"/>
              </a:ext>
            </a:extLst>
          </p:cNvPr>
          <p:cNvSpPr txBox="1"/>
          <p:nvPr/>
        </p:nvSpPr>
        <p:spPr>
          <a:xfrm>
            <a:off x="6853380" y="2139875"/>
            <a:ext cx="3158837" cy="646331"/>
          </a:xfrm>
          <a:prstGeom prst="rect">
            <a:avLst/>
          </a:prstGeom>
          <a:noFill/>
        </p:spPr>
        <p:txBody>
          <a:bodyPr wrap="square" rtlCol="0">
            <a:spAutoFit/>
          </a:bodyPr>
          <a:lstStyle/>
          <a:p>
            <a:r>
              <a:rPr kumimoji="1" lang="ja-JP" altLang="en-US" dirty="0"/>
              <a:t>成長を実感できるゲームが好きな人</a:t>
            </a:r>
          </a:p>
        </p:txBody>
      </p:sp>
      <p:sp>
        <p:nvSpPr>
          <p:cNvPr id="8" name="テキスト ボックス 7">
            <a:extLst>
              <a:ext uri="{FF2B5EF4-FFF2-40B4-BE49-F238E27FC236}">
                <a16:creationId xmlns:a16="http://schemas.microsoft.com/office/drawing/2014/main" id="{B74BEFF7-E0CC-D109-1649-24062894E486}"/>
              </a:ext>
            </a:extLst>
          </p:cNvPr>
          <p:cNvSpPr txBox="1"/>
          <p:nvPr/>
        </p:nvSpPr>
        <p:spPr>
          <a:xfrm>
            <a:off x="6834908" y="2798741"/>
            <a:ext cx="3214255" cy="369332"/>
          </a:xfrm>
          <a:prstGeom prst="rect">
            <a:avLst/>
          </a:prstGeom>
          <a:noFill/>
        </p:spPr>
        <p:txBody>
          <a:bodyPr wrap="square" rtlCol="0">
            <a:spAutoFit/>
          </a:bodyPr>
          <a:lstStyle/>
          <a:p>
            <a:r>
              <a:rPr kumimoji="1" lang="ja-JP" altLang="en-US" dirty="0"/>
              <a:t>独特な設定が好きな人</a:t>
            </a:r>
          </a:p>
        </p:txBody>
      </p:sp>
      <p:sp>
        <p:nvSpPr>
          <p:cNvPr id="9" name="テキスト ボックス 8">
            <a:extLst>
              <a:ext uri="{FF2B5EF4-FFF2-40B4-BE49-F238E27FC236}">
                <a16:creationId xmlns:a16="http://schemas.microsoft.com/office/drawing/2014/main" id="{6807772B-AB05-8056-76F2-01E174D5E0F5}"/>
              </a:ext>
            </a:extLst>
          </p:cNvPr>
          <p:cNvSpPr txBox="1"/>
          <p:nvPr/>
        </p:nvSpPr>
        <p:spPr>
          <a:xfrm>
            <a:off x="502227" y="4294910"/>
            <a:ext cx="3232727" cy="923330"/>
          </a:xfrm>
          <a:prstGeom prst="rect">
            <a:avLst/>
          </a:prstGeom>
          <a:noFill/>
        </p:spPr>
        <p:txBody>
          <a:bodyPr wrap="square" rtlCol="0">
            <a:spAutoFit/>
          </a:bodyPr>
          <a:lstStyle/>
          <a:p>
            <a:r>
              <a:rPr kumimoji="1" lang="ja-JP" altLang="en-US" dirty="0"/>
              <a:t>最弱（目立たない）の存在から上位の存在へ自分を示す自己主張</a:t>
            </a:r>
          </a:p>
        </p:txBody>
      </p:sp>
      <p:sp>
        <p:nvSpPr>
          <p:cNvPr id="10" name="テキスト ボックス 9">
            <a:extLst>
              <a:ext uri="{FF2B5EF4-FFF2-40B4-BE49-F238E27FC236}">
                <a16:creationId xmlns:a16="http://schemas.microsoft.com/office/drawing/2014/main" id="{B1036430-0039-4F72-3BDD-4FF409745D76}"/>
              </a:ext>
            </a:extLst>
          </p:cNvPr>
          <p:cNvSpPr txBox="1"/>
          <p:nvPr/>
        </p:nvSpPr>
        <p:spPr>
          <a:xfrm>
            <a:off x="1579418" y="5394036"/>
            <a:ext cx="3001818" cy="369332"/>
          </a:xfrm>
          <a:prstGeom prst="rect">
            <a:avLst/>
          </a:prstGeom>
          <a:noFill/>
        </p:spPr>
        <p:txBody>
          <a:bodyPr wrap="square" rtlCol="0">
            <a:spAutoFit/>
          </a:bodyPr>
          <a:lstStyle/>
          <a:p>
            <a:r>
              <a:rPr kumimoji="1" lang="ja-JP" altLang="en-US" dirty="0"/>
              <a:t>復習を果たすスカッと感</a:t>
            </a:r>
          </a:p>
        </p:txBody>
      </p:sp>
      <p:sp>
        <p:nvSpPr>
          <p:cNvPr id="11" name="テキスト ボックス 10">
            <a:extLst>
              <a:ext uri="{FF2B5EF4-FFF2-40B4-BE49-F238E27FC236}">
                <a16:creationId xmlns:a16="http://schemas.microsoft.com/office/drawing/2014/main" id="{506F9575-8291-7FA5-D188-6E72D21BE5A7}"/>
              </a:ext>
            </a:extLst>
          </p:cNvPr>
          <p:cNvSpPr txBox="1"/>
          <p:nvPr/>
        </p:nvSpPr>
        <p:spPr>
          <a:xfrm>
            <a:off x="548409" y="3896371"/>
            <a:ext cx="3657598" cy="369332"/>
          </a:xfrm>
          <a:prstGeom prst="rect">
            <a:avLst/>
          </a:prstGeom>
          <a:noFill/>
        </p:spPr>
        <p:txBody>
          <a:bodyPr wrap="square" rtlCol="0">
            <a:spAutoFit/>
          </a:bodyPr>
          <a:lstStyle/>
          <a:p>
            <a:r>
              <a:rPr kumimoji="1" lang="ja-JP" altLang="en-US" dirty="0"/>
              <a:t>自分のみじめな姿からの復讐心</a:t>
            </a:r>
          </a:p>
        </p:txBody>
      </p:sp>
    </p:spTree>
    <p:extLst>
      <p:ext uri="{BB962C8B-B14F-4D97-AF65-F5344CB8AC3E}">
        <p14:creationId xmlns:p14="http://schemas.microsoft.com/office/powerpoint/2010/main" val="3372247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87678F8-9778-F6E1-DCBC-578A434C9B04}"/>
              </a:ext>
            </a:extLst>
          </p:cNvPr>
          <p:cNvSpPr>
            <a:spLocks noGrp="1"/>
          </p:cNvSpPr>
          <p:nvPr>
            <p:ph idx="1"/>
          </p:nvPr>
        </p:nvSpPr>
        <p:spPr>
          <a:xfrm>
            <a:off x="3793837" y="1727056"/>
            <a:ext cx="5781484" cy="1325562"/>
          </a:xfrm>
        </p:spPr>
        <p:txBody>
          <a:bodyPr>
            <a:noAutofit/>
          </a:bodyPr>
          <a:lstStyle/>
          <a:p>
            <a:pPr marL="0" indent="0">
              <a:buNone/>
            </a:pPr>
            <a:r>
              <a:rPr kumimoji="1" lang="ja-JP" altLang="en-US" sz="13800" i="1" dirty="0">
                <a:latin typeface="HGP行書体" panose="03000600000000000000" pitchFamily="66" charset="-128"/>
                <a:ea typeface="HGP行書体" panose="03000600000000000000" pitchFamily="66" charset="-128"/>
              </a:rPr>
              <a:t>成長</a:t>
            </a:r>
          </a:p>
        </p:txBody>
      </p:sp>
      <p:sp>
        <p:nvSpPr>
          <p:cNvPr id="4" name="タイトル 3">
            <a:extLst>
              <a:ext uri="{FF2B5EF4-FFF2-40B4-BE49-F238E27FC236}">
                <a16:creationId xmlns:a16="http://schemas.microsoft.com/office/drawing/2014/main" id="{6F362819-E8B5-ABB7-AA6D-7661A95F2669}"/>
              </a:ext>
            </a:extLst>
          </p:cNvPr>
          <p:cNvSpPr>
            <a:spLocks noGrp="1"/>
          </p:cNvSpPr>
          <p:nvPr>
            <p:ph type="title"/>
          </p:nvPr>
        </p:nvSpPr>
        <p:spPr>
          <a:xfrm>
            <a:off x="838200" y="365125"/>
            <a:ext cx="10515600"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kumimoji="1" lang="ja-JP" altLang="en-US" sz="4000" dirty="0"/>
              <a:t>　ゲームコンセプト</a:t>
            </a:r>
          </a:p>
        </p:txBody>
      </p:sp>
      <p:sp>
        <p:nvSpPr>
          <p:cNvPr id="5" name="テキスト ボックス 4">
            <a:extLst>
              <a:ext uri="{FF2B5EF4-FFF2-40B4-BE49-F238E27FC236}">
                <a16:creationId xmlns:a16="http://schemas.microsoft.com/office/drawing/2014/main" id="{1CC0B6CB-D1E7-77F8-DB19-7080020B0E81}"/>
              </a:ext>
            </a:extLst>
          </p:cNvPr>
          <p:cNvSpPr txBox="1"/>
          <p:nvPr/>
        </p:nvSpPr>
        <p:spPr>
          <a:xfrm>
            <a:off x="1145309" y="3805382"/>
            <a:ext cx="6262254" cy="1938992"/>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dirty="0"/>
              <a:t>このゲームは高難易度のステージやボスを攻略していく</a:t>
            </a:r>
            <a:endParaRPr kumimoji="1" lang="en-US" altLang="ja-JP" sz="2400" dirty="0"/>
          </a:p>
          <a:p>
            <a:pPr marL="342900" indent="-342900">
              <a:buFont typeface="Arial" panose="020B0604020202020204" pitchFamily="34" charset="0"/>
              <a:buChar char="•"/>
            </a:pPr>
            <a:r>
              <a:rPr kumimoji="1" lang="ja-JP" altLang="en-US" sz="2400" dirty="0"/>
              <a:t>私たちが新しいことに挑戦し成長していくことからつけた</a:t>
            </a:r>
            <a:endParaRPr kumimoji="1" lang="en-US" altLang="ja-JP" sz="2400" dirty="0"/>
          </a:p>
          <a:p>
            <a:pPr marL="342900" indent="-342900">
              <a:buFont typeface="Arial" panose="020B0604020202020204" pitchFamily="34" charset="0"/>
              <a:buChar char="•"/>
            </a:pPr>
            <a:r>
              <a:rPr kumimoji="1" lang="ja-JP" altLang="en-US" sz="2400" dirty="0"/>
              <a:t>高難易度のゲームが好きな人</a:t>
            </a:r>
          </a:p>
        </p:txBody>
      </p:sp>
    </p:spTree>
    <p:extLst>
      <p:ext uri="{BB962C8B-B14F-4D97-AF65-F5344CB8AC3E}">
        <p14:creationId xmlns:p14="http://schemas.microsoft.com/office/powerpoint/2010/main" val="2657402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41">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タイトル 3">
            <a:extLst>
              <a:ext uri="{FF2B5EF4-FFF2-40B4-BE49-F238E27FC236}">
                <a16:creationId xmlns:a16="http://schemas.microsoft.com/office/drawing/2014/main" id="{0E820C86-E2EE-19F2-4B1C-4867DCC67722}"/>
              </a:ext>
            </a:extLst>
          </p:cNvPr>
          <p:cNvSpPr>
            <a:spLocks noGrp="1"/>
          </p:cNvSpPr>
          <p:nvPr>
            <p:ph type="title"/>
          </p:nvPr>
        </p:nvSpPr>
        <p:spPr>
          <a:xfrm>
            <a:off x="838200" y="1336390"/>
            <a:ext cx="6155988" cy="118292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vert="horz" lIns="91440" tIns="45720" rIns="91440" bIns="45720" rtlCol="0" anchor="b">
            <a:normAutofit/>
          </a:bodyPr>
          <a:lstStyle/>
          <a:p>
            <a:r>
              <a:rPr lang="ja-JP" altLang="en-US" sz="4300" kern="1200">
                <a:solidFill>
                  <a:schemeClr val="tx1"/>
                </a:solidFill>
                <a:latin typeface="+mj-lt"/>
                <a:ea typeface="+mj-ea"/>
                <a:cs typeface="+mj-cs"/>
              </a:rPr>
              <a:t>　ターゲットユーザー</a:t>
            </a:r>
            <a:endParaRPr kumimoji="1" lang="en-US" altLang="ja-JP" sz="4300" kern="1200">
              <a:solidFill>
                <a:schemeClr val="tx1"/>
              </a:solidFill>
              <a:latin typeface="+mj-lt"/>
              <a:ea typeface="+mj-ea"/>
              <a:cs typeface="+mj-cs"/>
            </a:endParaRPr>
          </a:p>
        </p:txBody>
      </p:sp>
      <p:cxnSp>
        <p:nvCxnSpPr>
          <p:cNvPr id="1044" name="Straight Connector 1043">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C553C86A-ABC5-9524-CCF7-4105EDBB4E56}"/>
              </a:ext>
            </a:extLst>
          </p:cNvPr>
          <p:cNvSpPr txBox="1"/>
          <p:nvPr/>
        </p:nvSpPr>
        <p:spPr>
          <a:xfrm>
            <a:off x="803776" y="2829330"/>
            <a:ext cx="6190412" cy="3344459"/>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ja-JP" altLang="en-US" sz="2000">
                <a:solidFill>
                  <a:schemeClr val="tx1">
                    <a:alpha val="80000"/>
                  </a:schemeClr>
                </a:solidFill>
              </a:rPr>
              <a:t>ゲーム例）</a:t>
            </a:r>
            <a:r>
              <a:rPr lang="en-US" altLang="ja-JP" sz="2000">
                <a:solidFill>
                  <a:schemeClr val="tx1">
                    <a:alpha val="80000"/>
                  </a:schemeClr>
                </a:solidFill>
              </a:rPr>
              <a:t>Hollow Knight</a:t>
            </a:r>
            <a:r>
              <a:rPr lang="ja-JP" altLang="en-US" sz="2000">
                <a:solidFill>
                  <a:schemeClr val="tx1">
                    <a:alpha val="80000"/>
                  </a:schemeClr>
                </a:solidFill>
              </a:rPr>
              <a:t>　好きな層</a:t>
            </a:r>
            <a:endParaRPr lang="en-US" altLang="ja-JP" sz="2000">
              <a:solidFill>
                <a:schemeClr val="tx1">
                  <a:alpha val="80000"/>
                </a:schemeClr>
              </a:solidFill>
            </a:endParaRPr>
          </a:p>
          <a:p>
            <a:pPr indent="-228600">
              <a:lnSpc>
                <a:spcPct val="90000"/>
              </a:lnSpc>
              <a:spcAft>
                <a:spcPts val="600"/>
              </a:spcAft>
              <a:buFont typeface="Arial" panose="020B0604020202020204" pitchFamily="34" charset="0"/>
              <a:buChar char="•"/>
            </a:pPr>
            <a:r>
              <a:rPr kumimoji="1" lang="ja-JP" altLang="en-US" sz="2000">
                <a:solidFill>
                  <a:schemeClr val="tx1">
                    <a:alpha val="80000"/>
                  </a:schemeClr>
                </a:solidFill>
              </a:rPr>
              <a:t>　　　　　フロムゲーマー</a:t>
            </a:r>
            <a:endParaRPr kumimoji="1" lang="en-US" altLang="ja-JP" sz="2000">
              <a:solidFill>
                <a:schemeClr val="tx1">
                  <a:alpha val="80000"/>
                </a:schemeClr>
              </a:solidFill>
            </a:endParaRPr>
          </a:p>
          <a:p>
            <a:pPr indent="-228600">
              <a:lnSpc>
                <a:spcPct val="90000"/>
              </a:lnSpc>
              <a:spcAft>
                <a:spcPts val="600"/>
              </a:spcAft>
              <a:buFont typeface="Arial" panose="020B0604020202020204" pitchFamily="34" charset="0"/>
              <a:buChar char="•"/>
            </a:pPr>
            <a:r>
              <a:rPr kumimoji="1" lang="ja-JP" altLang="en-US" sz="2000">
                <a:solidFill>
                  <a:schemeClr val="tx1">
                    <a:alpha val="80000"/>
                  </a:schemeClr>
                </a:solidFill>
              </a:rPr>
              <a:t>特別枠）　</a:t>
            </a:r>
            <a:r>
              <a:rPr lang="en-US" altLang="ja-JP" sz="2000">
                <a:solidFill>
                  <a:schemeClr val="tx1">
                    <a:alpha val="80000"/>
                  </a:schemeClr>
                </a:solidFill>
              </a:rPr>
              <a:t>Re:Monster</a:t>
            </a:r>
            <a:r>
              <a:rPr lang="ja-JP" altLang="en-US" sz="2000">
                <a:solidFill>
                  <a:schemeClr val="tx1">
                    <a:alpha val="80000"/>
                  </a:schemeClr>
                </a:solidFill>
              </a:rPr>
              <a:t>　をみている人</a:t>
            </a:r>
            <a:endParaRPr kumimoji="1" lang="en-US" altLang="ja-JP" sz="2000">
              <a:solidFill>
                <a:schemeClr val="tx1">
                  <a:alpha val="80000"/>
                </a:schemeClr>
              </a:solidFill>
            </a:endParaRPr>
          </a:p>
          <a:p>
            <a:pPr indent="-228600">
              <a:lnSpc>
                <a:spcPct val="90000"/>
              </a:lnSpc>
              <a:spcAft>
                <a:spcPts val="600"/>
              </a:spcAft>
              <a:buFont typeface="Arial" panose="020B0604020202020204" pitchFamily="34" charset="0"/>
              <a:buChar char="•"/>
            </a:pPr>
            <a:r>
              <a:rPr lang="ja-JP" altLang="en-US" sz="2000">
                <a:solidFill>
                  <a:schemeClr val="tx1">
                    <a:alpha val="80000"/>
                  </a:schemeClr>
                </a:solidFill>
              </a:rPr>
              <a:t>想定：</a:t>
            </a:r>
            <a:r>
              <a:rPr lang="en-US" altLang="ja-JP" sz="2000">
                <a:solidFill>
                  <a:schemeClr val="tx1">
                    <a:alpha val="80000"/>
                  </a:schemeClr>
                </a:solidFill>
              </a:rPr>
              <a:t>50</a:t>
            </a:r>
            <a:r>
              <a:rPr lang="ja-JP" altLang="en-US" sz="2000">
                <a:solidFill>
                  <a:schemeClr val="tx1">
                    <a:alpha val="80000"/>
                  </a:schemeClr>
                </a:solidFill>
              </a:rPr>
              <a:t>万人程度</a:t>
            </a:r>
            <a:endParaRPr lang="en-US" altLang="ja-JP" sz="2000">
              <a:solidFill>
                <a:schemeClr val="tx1">
                  <a:alpha val="80000"/>
                </a:schemeClr>
              </a:solidFill>
            </a:endParaRPr>
          </a:p>
        </p:txBody>
      </p:sp>
      <p:pic>
        <p:nvPicPr>
          <p:cNvPr id="1028" name="Picture 4">
            <a:extLst>
              <a:ext uri="{FF2B5EF4-FFF2-40B4-BE49-F238E27FC236}">
                <a16:creationId xmlns:a16="http://schemas.microsoft.com/office/drawing/2014/main" id="{3721DA3A-A915-71F8-1E1E-BA243488EBD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35627" y="1336390"/>
            <a:ext cx="3422456" cy="4837394"/>
          </a:xfrm>
          <a:prstGeom prst="rect">
            <a:avLst/>
          </a:prstGeom>
          <a:noFill/>
          <a:extLst>
            <a:ext uri="{909E8E84-426E-40DD-AFC4-6F175D3DCCD1}">
              <a14:hiddenFill xmlns:a14="http://schemas.microsoft.com/office/drawing/2010/main">
                <a:solidFill>
                  <a:srgbClr val="FFFFFF"/>
                </a:solidFill>
              </a14:hiddenFill>
            </a:ext>
          </a:extLst>
        </p:spPr>
      </p:pic>
      <p:sp>
        <p:nvSpPr>
          <p:cNvPr id="1046"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104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187369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3BCD9-8C5A-61DB-D6D6-5B84B34E6A50}"/>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DE30D919-B016-F835-2399-1DCF9FE89372}"/>
              </a:ext>
            </a:extLst>
          </p:cNvPr>
          <p:cNvSpPr/>
          <p:nvPr/>
        </p:nvSpPr>
        <p:spPr>
          <a:xfrm>
            <a:off x="69273" y="205364"/>
            <a:ext cx="12053454" cy="12284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kumimoji="1" lang="ja-JP" altLang="en-US" sz="4000" dirty="0"/>
              <a:t>　ゲーム概要</a:t>
            </a:r>
          </a:p>
        </p:txBody>
      </p:sp>
      <p:sp>
        <p:nvSpPr>
          <p:cNvPr id="2" name="テキスト ボックス 1">
            <a:extLst>
              <a:ext uri="{FF2B5EF4-FFF2-40B4-BE49-F238E27FC236}">
                <a16:creationId xmlns:a16="http://schemas.microsoft.com/office/drawing/2014/main" id="{5A4F1010-4746-3F0A-4DD7-F59A6687BD88}"/>
              </a:ext>
            </a:extLst>
          </p:cNvPr>
          <p:cNvSpPr txBox="1"/>
          <p:nvPr/>
        </p:nvSpPr>
        <p:spPr>
          <a:xfrm>
            <a:off x="674255" y="1902691"/>
            <a:ext cx="4470400" cy="400110"/>
          </a:xfrm>
          <a:prstGeom prst="rect">
            <a:avLst/>
          </a:prstGeom>
          <a:noFill/>
        </p:spPr>
        <p:txBody>
          <a:bodyPr wrap="square" rtlCol="0">
            <a:spAutoFit/>
          </a:bodyPr>
          <a:lstStyle/>
          <a:p>
            <a:r>
              <a:rPr kumimoji="1" lang="ja-JP" altLang="en-US" sz="2000" dirty="0"/>
              <a:t>横スクロール型アクショゲーム</a:t>
            </a:r>
          </a:p>
        </p:txBody>
      </p:sp>
      <p:sp>
        <p:nvSpPr>
          <p:cNvPr id="4" name="テキスト ボックス 3">
            <a:extLst>
              <a:ext uri="{FF2B5EF4-FFF2-40B4-BE49-F238E27FC236}">
                <a16:creationId xmlns:a16="http://schemas.microsoft.com/office/drawing/2014/main" id="{AF62C168-D4B2-50F1-1694-EAF0FDCD0175}"/>
              </a:ext>
            </a:extLst>
          </p:cNvPr>
          <p:cNvSpPr txBox="1"/>
          <p:nvPr/>
        </p:nvSpPr>
        <p:spPr>
          <a:xfrm>
            <a:off x="674254" y="2616541"/>
            <a:ext cx="4886036" cy="400110"/>
          </a:xfrm>
          <a:prstGeom prst="rect">
            <a:avLst/>
          </a:prstGeom>
          <a:noFill/>
        </p:spPr>
        <p:txBody>
          <a:bodyPr wrap="square" rtlCol="0">
            <a:spAutoFit/>
          </a:bodyPr>
          <a:lstStyle/>
          <a:p>
            <a:r>
              <a:rPr kumimoji="1" lang="ja-JP" altLang="en-US" sz="2000" dirty="0"/>
              <a:t>ソロプレイ</a:t>
            </a:r>
            <a:r>
              <a:rPr lang="en-US" altLang="ja-JP" sz="2000" dirty="0"/>
              <a:t>	</a:t>
            </a:r>
            <a:r>
              <a:rPr lang="ja-JP" altLang="en-US" sz="2000" dirty="0"/>
              <a:t>プレイヤーはスライム！</a:t>
            </a:r>
            <a:endParaRPr kumimoji="1" lang="ja-JP" altLang="en-US" sz="2000" dirty="0"/>
          </a:p>
        </p:txBody>
      </p:sp>
      <p:sp>
        <p:nvSpPr>
          <p:cNvPr id="5" name="テキスト ボックス 4">
            <a:extLst>
              <a:ext uri="{FF2B5EF4-FFF2-40B4-BE49-F238E27FC236}">
                <a16:creationId xmlns:a16="http://schemas.microsoft.com/office/drawing/2014/main" id="{BAB8A40D-55EB-F239-7766-A27B36257358}"/>
              </a:ext>
            </a:extLst>
          </p:cNvPr>
          <p:cNvSpPr txBox="1"/>
          <p:nvPr/>
        </p:nvSpPr>
        <p:spPr>
          <a:xfrm>
            <a:off x="674255" y="4353163"/>
            <a:ext cx="5338618" cy="1600438"/>
          </a:xfrm>
          <a:prstGeom prst="rect">
            <a:avLst/>
          </a:prstGeom>
          <a:noFill/>
        </p:spPr>
        <p:txBody>
          <a:bodyPr wrap="square" rtlCol="0">
            <a:spAutoFit/>
          </a:bodyPr>
          <a:lstStyle/>
          <a:p>
            <a:r>
              <a:rPr kumimoji="1" lang="ja-JP" altLang="en-US" sz="2000" dirty="0"/>
              <a:t>カメラはプレイヤー中心に動いていく</a:t>
            </a:r>
            <a:endParaRPr kumimoji="1" lang="en-US" altLang="ja-JP" sz="2000" dirty="0"/>
          </a:p>
          <a:p>
            <a:r>
              <a:rPr lang="en-US" altLang="ja-JP" sz="2000" dirty="0"/>
              <a:t>AD</a:t>
            </a:r>
            <a:r>
              <a:rPr lang="ja-JP" altLang="en-US" sz="2000" dirty="0"/>
              <a:t>移動でクリックなどで攻撃</a:t>
            </a:r>
            <a:endParaRPr lang="en-US" altLang="ja-JP" sz="2000" dirty="0"/>
          </a:p>
          <a:p>
            <a:r>
              <a:rPr lang="ja-JP" altLang="en-US" sz="2000" dirty="0"/>
              <a:t>マウスが向いている方向に攻撃なので</a:t>
            </a:r>
            <a:endParaRPr lang="en-US" altLang="ja-JP" sz="2000" dirty="0"/>
          </a:p>
          <a:p>
            <a:r>
              <a:rPr lang="ja-JP" altLang="en-US" sz="2000" dirty="0"/>
              <a:t>全方位に攻撃することも可能</a:t>
            </a:r>
          </a:p>
          <a:p>
            <a:endParaRPr kumimoji="1" lang="ja-JP" altLang="en-US" dirty="0"/>
          </a:p>
        </p:txBody>
      </p:sp>
      <p:sp>
        <p:nvSpPr>
          <p:cNvPr id="8" name="テキスト ボックス 7">
            <a:extLst>
              <a:ext uri="{FF2B5EF4-FFF2-40B4-BE49-F238E27FC236}">
                <a16:creationId xmlns:a16="http://schemas.microsoft.com/office/drawing/2014/main" id="{15DBA32F-81CE-50E6-FD5E-ED9A51A0BE9D}"/>
              </a:ext>
            </a:extLst>
          </p:cNvPr>
          <p:cNvSpPr txBox="1"/>
          <p:nvPr/>
        </p:nvSpPr>
        <p:spPr>
          <a:xfrm>
            <a:off x="674254" y="3738574"/>
            <a:ext cx="3343564" cy="400110"/>
          </a:xfrm>
          <a:prstGeom prst="rect">
            <a:avLst/>
          </a:prstGeom>
          <a:noFill/>
        </p:spPr>
        <p:txBody>
          <a:bodyPr wrap="square" rtlCol="0">
            <a:spAutoFit/>
          </a:bodyPr>
          <a:lstStyle/>
          <a:p>
            <a:r>
              <a:rPr lang="ja-JP" altLang="en-US" sz="2000" dirty="0"/>
              <a:t>ステージギミック作る予定</a:t>
            </a:r>
            <a:endParaRPr kumimoji="1" lang="ja-JP" altLang="en-US" sz="2000" dirty="0"/>
          </a:p>
        </p:txBody>
      </p:sp>
      <p:sp>
        <p:nvSpPr>
          <p:cNvPr id="9" name="テキスト ボックス 8">
            <a:extLst>
              <a:ext uri="{FF2B5EF4-FFF2-40B4-BE49-F238E27FC236}">
                <a16:creationId xmlns:a16="http://schemas.microsoft.com/office/drawing/2014/main" id="{94ABB26A-5628-5DBE-CC5F-65AB67BB7481}"/>
              </a:ext>
            </a:extLst>
          </p:cNvPr>
          <p:cNvSpPr txBox="1"/>
          <p:nvPr/>
        </p:nvSpPr>
        <p:spPr>
          <a:xfrm>
            <a:off x="674254" y="3123986"/>
            <a:ext cx="3500581" cy="400110"/>
          </a:xfrm>
          <a:prstGeom prst="rect">
            <a:avLst/>
          </a:prstGeom>
          <a:noFill/>
        </p:spPr>
        <p:txBody>
          <a:bodyPr wrap="square" rtlCol="0">
            <a:spAutoFit/>
          </a:bodyPr>
          <a:lstStyle/>
          <a:p>
            <a:r>
              <a:rPr lang="ja-JP" altLang="en-US" sz="2000" dirty="0"/>
              <a:t>ゲーム難易度：高難易度</a:t>
            </a:r>
            <a:endParaRPr kumimoji="1" lang="ja-JP" altLang="en-US" sz="2000" dirty="0"/>
          </a:p>
        </p:txBody>
      </p:sp>
    </p:spTree>
    <p:extLst>
      <p:ext uri="{BB962C8B-B14F-4D97-AF65-F5344CB8AC3E}">
        <p14:creationId xmlns:p14="http://schemas.microsoft.com/office/powerpoint/2010/main" val="3666083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CF1529E-028C-5355-7219-A82889FDA8ED}"/>
              </a:ext>
            </a:extLst>
          </p:cNvPr>
          <p:cNvSpPr>
            <a:spLocks noGrp="1"/>
          </p:cNvSpPr>
          <p:nvPr>
            <p:ph idx="1"/>
          </p:nvPr>
        </p:nvSpPr>
        <p:spPr>
          <a:xfrm>
            <a:off x="838200" y="2823152"/>
            <a:ext cx="10515600" cy="3457575"/>
          </a:xfrm>
        </p:spPr>
        <p:txBody>
          <a:bodyPr>
            <a:normAutofit/>
          </a:bodyPr>
          <a:lstStyle/>
          <a:p>
            <a:r>
              <a:rPr lang="ja-JP" altLang="en-US" dirty="0"/>
              <a:t>ステージとボスは</a:t>
            </a:r>
            <a:r>
              <a:rPr kumimoji="1" lang="ja-JP" altLang="en-US" dirty="0"/>
              <a:t>それぞれ</a:t>
            </a:r>
            <a:r>
              <a:rPr kumimoji="1" lang="en-US" altLang="ja-JP" dirty="0"/>
              <a:t>4</a:t>
            </a:r>
            <a:r>
              <a:rPr kumimoji="1" lang="ja-JP" altLang="en-US" dirty="0"/>
              <a:t>つ</a:t>
            </a:r>
            <a:endParaRPr kumimoji="1" lang="en-US" altLang="ja-JP" dirty="0"/>
          </a:p>
          <a:p>
            <a:pPr marL="0" indent="0">
              <a:buNone/>
            </a:pPr>
            <a:endParaRPr lang="en-US" altLang="ja-JP" dirty="0"/>
          </a:p>
          <a:p>
            <a:r>
              <a:rPr lang="ja-JP" altLang="en-US" dirty="0"/>
              <a:t>特徴：ボスを倒すことでボスの能力を取得することで強くなる</a:t>
            </a:r>
            <a:endParaRPr lang="en-US" altLang="ja-JP" dirty="0"/>
          </a:p>
          <a:p>
            <a:pPr marL="0" indent="0">
              <a:buNone/>
            </a:pPr>
            <a:endParaRPr kumimoji="1" lang="en-US" altLang="ja-JP" dirty="0"/>
          </a:p>
          <a:p>
            <a:r>
              <a:rPr kumimoji="1" lang="ja-JP" altLang="en-US" dirty="0"/>
              <a:t>獲得した能力を駆使して</a:t>
            </a:r>
            <a:r>
              <a:rPr lang="ja-JP" altLang="en-US" dirty="0"/>
              <a:t>進めていく楽しさがある</a:t>
            </a:r>
            <a:endParaRPr kumimoji="1" lang="ja-JP" altLang="en-US" dirty="0"/>
          </a:p>
        </p:txBody>
      </p:sp>
      <p:sp>
        <p:nvSpPr>
          <p:cNvPr id="4" name="タイトル 3">
            <a:extLst>
              <a:ext uri="{FF2B5EF4-FFF2-40B4-BE49-F238E27FC236}">
                <a16:creationId xmlns:a16="http://schemas.microsoft.com/office/drawing/2014/main" id="{07C6778E-75A2-0D90-3849-9F71692D7462}"/>
              </a:ext>
            </a:extLst>
          </p:cNvPr>
          <p:cNvSpPr>
            <a:spLocks noGrp="1"/>
          </p:cNvSpPr>
          <p:nvPr>
            <p:ph type="title"/>
          </p:nvPr>
        </p:nvSpPr>
        <p:spPr>
          <a:xfrm>
            <a:off x="838200" y="365125"/>
            <a:ext cx="10515600"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kumimoji="1" lang="ja-JP" altLang="en-US" sz="4000" dirty="0"/>
              <a:t>　ゲーム概要</a:t>
            </a:r>
          </a:p>
        </p:txBody>
      </p:sp>
    </p:spTree>
    <p:extLst>
      <p:ext uri="{BB962C8B-B14F-4D97-AF65-F5344CB8AC3E}">
        <p14:creationId xmlns:p14="http://schemas.microsoft.com/office/powerpoint/2010/main" val="2744339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F98D1B-849A-9B80-925D-8C32D365E6E4}"/>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A92FD221-4F52-2397-69FA-3AADB1D23DCE}"/>
              </a:ext>
            </a:extLst>
          </p:cNvPr>
          <p:cNvSpPr/>
          <p:nvPr/>
        </p:nvSpPr>
        <p:spPr>
          <a:xfrm>
            <a:off x="69273" y="205364"/>
            <a:ext cx="12053454" cy="12284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kumimoji="1" lang="ja-JP" altLang="en-US" sz="4000" dirty="0"/>
              <a:t>世界観（ストーリー）</a:t>
            </a:r>
          </a:p>
        </p:txBody>
      </p:sp>
      <p:sp>
        <p:nvSpPr>
          <p:cNvPr id="2" name="テキスト ボックス 1">
            <a:extLst>
              <a:ext uri="{FF2B5EF4-FFF2-40B4-BE49-F238E27FC236}">
                <a16:creationId xmlns:a16="http://schemas.microsoft.com/office/drawing/2014/main" id="{5BBD9AB8-8C73-4899-EB50-DA7A58199D84}"/>
              </a:ext>
            </a:extLst>
          </p:cNvPr>
          <p:cNvSpPr txBox="1"/>
          <p:nvPr/>
        </p:nvSpPr>
        <p:spPr>
          <a:xfrm>
            <a:off x="415637" y="1856510"/>
            <a:ext cx="7195127" cy="646331"/>
          </a:xfrm>
          <a:prstGeom prst="rect">
            <a:avLst/>
          </a:prstGeom>
          <a:noFill/>
        </p:spPr>
        <p:txBody>
          <a:bodyPr wrap="square" rtlCol="0">
            <a:spAutoFit/>
          </a:bodyPr>
          <a:lstStyle/>
          <a:p>
            <a:r>
              <a:rPr kumimoji="1" lang="ja-JP" altLang="en-US" dirty="0"/>
              <a:t>主人公（スライム）研究所の博士にスライムに変えられる（元人間）</a:t>
            </a:r>
          </a:p>
        </p:txBody>
      </p:sp>
      <p:sp>
        <p:nvSpPr>
          <p:cNvPr id="4" name="テキスト ボックス 3">
            <a:extLst>
              <a:ext uri="{FF2B5EF4-FFF2-40B4-BE49-F238E27FC236}">
                <a16:creationId xmlns:a16="http://schemas.microsoft.com/office/drawing/2014/main" id="{8CA76C54-993D-3F5F-402C-821FDE310D12}"/>
              </a:ext>
            </a:extLst>
          </p:cNvPr>
          <p:cNvSpPr txBox="1"/>
          <p:nvPr/>
        </p:nvSpPr>
        <p:spPr>
          <a:xfrm>
            <a:off x="323273" y="2403648"/>
            <a:ext cx="6687128" cy="369332"/>
          </a:xfrm>
          <a:prstGeom prst="rect">
            <a:avLst/>
          </a:prstGeom>
          <a:noFill/>
        </p:spPr>
        <p:txBody>
          <a:bodyPr wrap="square" rtlCol="0">
            <a:spAutoFit/>
          </a:bodyPr>
          <a:lstStyle/>
          <a:p>
            <a:r>
              <a:rPr kumimoji="1" lang="ja-JP" altLang="en-US" dirty="0"/>
              <a:t>失敗作として捨てられる</a:t>
            </a:r>
          </a:p>
        </p:txBody>
      </p:sp>
      <p:sp>
        <p:nvSpPr>
          <p:cNvPr id="5" name="テキスト ボックス 4">
            <a:extLst>
              <a:ext uri="{FF2B5EF4-FFF2-40B4-BE49-F238E27FC236}">
                <a16:creationId xmlns:a16="http://schemas.microsoft.com/office/drawing/2014/main" id="{22C1372F-C70B-48BF-2583-D3D424798611}"/>
              </a:ext>
            </a:extLst>
          </p:cNvPr>
          <p:cNvSpPr txBox="1"/>
          <p:nvPr/>
        </p:nvSpPr>
        <p:spPr>
          <a:xfrm>
            <a:off x="323273" y="2925551"/>
            <a:ext cx="6160655" cy="646331"/>
          </a:xfrm>
          <a:prstGeom prst="rect">
            <a:avLst/>
          </a:prstGeom>
          <a:noFill/>
        </p:spPr>
        <p:txBody>
          <a:bodyPr wrap="square" rtlCol="0">
            <a:spAutoFit/>
          </a:bodyPr>
          <a:lstStyle/>
          <a:p>
            <a:r>
              <a:rPr kumimoji="1" lang="ja-JP" altLang="en-US" dirty="0"/>
              <a:t>目を覚ますと下水の中にいてここで自分のみじめな姿から博士への復讐を誓う</a:t>
            </a:r>
          </a:p>
        </p:txBody>
      </p:sp>
      <p:sp>
        <p:nvSpPr>
          <p:cNvPr id="7" name="テキスト ボックス 6">
            <a:extLst>
              <a:ext uri="{FF2B5EF4-FFF2-40B4-BE49-F238E27FC236}">
                <a16:creationId xmlns:a16="http://schemas.microsoft.com/office/drawing/2014/main" id="{49A059A0-1275-8B7F-7471-5FBA9D70B176}"/>
              </a:ext>
            </a:extLst>
          </p:cNvPr>
          <p:cNvSpPr txBox="1"/>
          <p:nvPr/>
        </p:nvSpPr>
        <p:spPr>
          <a:xfrm>
            <a:off x="415637" y="3731491"/>
            <a:ext cx="3740727" cy="369332"/>
          </a:xfrm>
          <a:prstGeom prst="rect">
            <a:avLst/>
          </a:prstGeom>
          <a:noFill/>
        </p:spPr>
        <p:txBody>
          <a:bodyPr wrap="square" rtlCol="0">
            <a:spAutoFit/>
          </a:bodyPr>
          <a:lstStyle/>
          <a:p>
            <a:r>
              <a:rPr kumimoji="1" lang="ja-JP" altLang="en-US" dirty="0"/>
              <a:t>敵を倒していって成長していく</a:t>
            </a:r>
          </a:p>
        </p:txBody>
      </p:sp>
      <p:sp>
        <p:nvSpPr>
          <p:cNvPr id="8" name="テキスト ボックス 7">
            <a:extLst>
              <a:ext uri="{FF2B5EF4-FFF2-40B4-BE49-F238E27FC236}">
                <a16:creationId xmlns:a16="http://schemas.microsoft.com/office/drawing/2014/main" id="{3EC9D330-37ED-83CE-6BD7-1CC8650627CA}"/>
              </a:ext>
            </a:extLst>
          </p:cNvPr>
          <p:cNvSpPr txBox="1"/>
          <p:nvPr/>
        </p:nvSpPr>
        <p:spPr>
          <a:xfrm>
            <a:off x="415637" y="4516582"/>
            <a:ext cx="3648363" cy="369332"/>
          </a:xfrm>
          <a:prstGeom prst="rect">
            <a:avLst/>
          </a:prstGeom>
          <a:noFill/>
        </p:spPr>
        <p:txBody>
          <a:bodyPr wrap="square" rtlCol="0">
            <a:spAutoFit/>
          </a:bodyPr>
          <a:lstStyle/>
          <a:p>
            <a:r>
              <a:rPr kumimoji="1" lang="ja-JP" altLang="en-US" dirty="0"/>
              <a:t>ボスを倒して復習を果たす</a:t>
            </a:r>
          </a:p>
        </p:txBody>
      </p:sp>
      <p:sp>
        <p:nvSpPr>
          <p:cNvPr id="9" name="テキスト ボックス 8">
            <a:extLst>
              <a:ext uri="{FF2B5EF4-FFF2-40B4-BE49-F238E27FC236}">
                <a16:creationId xmlns:a16="http://schemas.microsoft.com/office/drawing/2014/main" id="{5DE4FA34-DA0E-112E-A911-E5F64E414B83}"/>
              </a:ext>
            </a:extLst>
          </p:cNvPr>
          <p:cNvSpPr txBox="1"/>
          <p:nvPr/>
        </p:nvSpPr>
        <p:spPr>
          <a:xfrm>
            <a:off x="323273" y="5673704"/>
            <a:ext cx="4248727" cy="369332"/>
          </a:xfrm>
          <a:prstGeom prst="rect">
            <a:avLst/>
          </a:prstGeom>
          <a:noFill/>
        </p:spPr>
        <p:txBody>
          <a:bodyPr wrap="square" rtlCol="0">
            <a:spAutoFit/>
          </a:bodyPr>
          <a:lstStyle/>
          <a:p>
            <a:r>
              <a:rPr kumimoji="1" lang="ja-JP" altLang="en-US" dirty="0"/>
              <a:t>博士を自分と同じような姿に変える</a:t>
            </a:r>
          </a:p>
        </p:txBody>
      </p:sp>
      <p:sp>
        <p:nvSpPr>
          <p:cNvPr id="10" name="テキスト ボックス 9">
            <a:extLst>
              <a:ext uri="{FF2B5EF4-FFF2-40B4-BE49-F238E27FC236}">
                <a16:creationId xmlns:a16="http://schemas.microsoft.com/office/drawing/2014/main" id="{CA7515F5-597E-3340-23C1-32491710982D}"/>
              </a:ext>
            </a:extLst>
          </p:cNvPr>
          <p:cNvSpPr txBox="1"/>
          <p:nvPr/>
        </p:nvSpPr>
        <p:spPr>
          <a:xfrm>
            <a:off x="415637" y="5030611"/>
            <a:ext cx="3223491" cy="369332"/>
          </a:xfrm>
          <a:prstGeom prst="rect">
            <a:avLst/>
          </a:prstGeom>
          <a:noFill/>
        </p:spPr>
        <p:txBody>
          <a:bodyPr wrap="square" rtlCol="0">
            <a:spAutoFit/>
          </a:bodyPr>
          <a:lstStyle/>
          <a:p>
            <a:r>
              <a:rPr kumimoji="1" lang="ja-JP" altLang="en-US" dirty="0"/>
              <a:t>自分は無事に人に戻る</a:t>
            </a:r>
          </a:p>
        </p:txBody>
      </p:sp>
    </p:spTree>
    <p:extLst>
      <p:ext uri="{BB962C8B-B14F-4D97-AF65-F5344CB8AC3E}">
        <p14:creationId xmlns:p14="http://schemas.microsoft.com/office/powerpoint/2010/main" val="1655161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0C287C-08A0-AA17-A426-CE6C80AC6C82}"/>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753DC15C-566D-7326-53B4-680F792DCB11}"/>
              </a:ext>
            </a:extLst>
          </p:cNvPr>
          <p:cNvSpPr/>
          <p:nvPr/>
        </p:nvSpPr>
        <p:spPr>
          <a:xfrm>
            <a:off x="69273" y="205364"/>
            <a:ext cx="12053454" cy="12284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ja-JP" altLang="en-US" sz="4000" dirty="0"/>
              <a:t>まとめ</a:t>
            </a:r>
            <a:endParaRPr kumimoji="1" lang="ja-JP" altLang="en-US" sz="4000" dirty="0"/>
          </a:p>
        </p:txBody>
      </p:sp>
      <p:sp>
        <p:nvSpPr>
          <p:cNvPr id="2" name="テキスト ボックス 1">
            <a:extLst>
              <a:ext uri="{FF2B5EF4-FFF2-40B4-BE49-F238E27FC236}">
                <a16:creationId xmlns:a16="http://schemas.microsoft.com/office/drawing/2014/main" id="{CB2FA8FE-9C95-9621-2107-23124554323E}"/>
              </a:ext>
            </a:extLst>
          </p:cNvPr>
          <p:cNvSpPr txBox="1"/>
          <p:nvPr/>
        </p:nvSpPr>
        <p:spPr>
          <a:xfrm>
            <a:off x="2290618" y="2632364"/>
            <a:ext cx="5181600" cy="369332"/>
          </a:xfrm>
          <a:prstGeom prst="rect">
            <a:avLst/>
          </a:prstGeom>
          <a:noFill/>
        </p:spPr>
        <p:txBody>
          <a:bodyPr wrap="square" rtlCol="0">
            <a:spAutoFit/>
          </a:bodyPr>
          <a:lstStyle/>
          <a:p>
            <a:r>
              <a:rPr kumimoji="1" lang="ja-JP" altLang="en-US" dirty="0"/>
              <a:t>このゲームをプレイすることでプレイヤーは</a:t>
            </a:r>
            <a:r>
              <a:rPr kumimoji="1" lang="en-US" altLang="ja-JP" dirty="0"/>
              <a:t>…</a:t>
            </a:r>
            <a:endParaRPr kumimoji="1" lang="ja-JP" altLang="en-US" dirty="0"/>
          </a:p>
        </p:txBody>
      </p:sp>
    </p:spTree>
    <p:extLst>
      <p:ext uri="{BB962C8B-B14F-4D97-AF65-F5344CB8AC3E}">
        <p14:creationId xmlns:p14="http://schemas.microsoft.com/office/powerpoint/2010/main" val="224391279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TotalTime>
  <Words>341</Words>
  <Application>Microsoft Office PowerPoint</Application>
  <PresentationFormat>ワイド画面</PresentationFormat>
  <Paragraphs>56</Paragraphs>
  <Slides>9</Slides>
  <Notes>1</Notes>
  <HiddenSlides>3</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HGP行書体</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　ゲームコンセプト</vt:lpstr>
      <vt:lpstr>　ターゲットユーザー</vt:lpstr>
      <vt:lpstr>PowerPoint プレゼンテーション</vt:lpstr>
      <vt:lpstr>　ゲーム概要</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廣田　凌</dc:creator>
  <cp:lastModifiedBy>久保田　七翔</cp:lastModifiedBy>
  <cp:revision>6</cp:revision>
  <dcterms:created xsi:type="dcterms:W3CDTF">2026-04-22T08:50:56Z</dcterms:created>
  <dcterms:modified xsi:type="dcterms:W3CDTF">2026-06-08T07:25:54Z</dcterms:modified>
</cp:coreProperties>
</file>